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905" r:id="rId5"/>
    <p:sldId id="257" r:id="rId6"/>
    <p:sldId id="904" r:id="rId7"/>
    <p:sldId id="902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087813"/>
              </p:ext>
            </p:extLst>
          </p:nvPr>
        </p:nvGraphicFramePr>
        <p:xfrm>
          <a:off x="8193271" y="4898509"/>
          <a:ext cx="3702050" cy="7523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lvl="0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Roopesh Chalasani — 2420030359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Turlapati</a:t>
                      </a: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Deepthi Anusha — 2420030448</a:t>
                      </a:r>
                      <a:b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Avula Vasantha Vyshnavi — 2420030449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29500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716447" y="1350236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1580064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SALES/DEMAND FORECASTING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45D2B-D1E6-DC77-A67B-2A264B694DDC}"/>
              </a:ext>
            </a:extLst>
          </p:cNvPr>
          <p:cNvSpPr txBox="1"/>
          <p:nvPr/>
        </p:nvSpPr>
        <p:spPr>
          <a:xfrm>
            <a:off x="4038600" y="413508"/>
            <a:ext cx="74427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93C90-2A5D-945B-233C-EAD21E8C7FA5}"/>
              </a:ext>
            </a:extLst>
          </p:cNvPr>
          <p:cNvSpPr txBox="1"/>
          <p:nvPr/>
        </p:nvSpPr>
        <p:spPr>
          <a:xfrm>
            <a:off x="5106512" y="2585983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Batch - 5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281519" y="1939177"/>
            <a:ext cx="6504274" cy="3877796"/>
            <a:chOff x="2209801" y="2217836"/>
            <a:chExt cx="6504274" cy="387779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BDBC7-F050-F5C0-FAAC-EBB2B166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51EB1-8E22-2968-D89D-C16024F7E067}"/>
              </a:ext>
            </a:extLst>
          </p:cNvPr>
          <p:cNvSpPr txBox="1"/>
          <p:nvPr/>
        </p:nvSpPr>
        <p:spPr>
          <a:xfrm>
            <a:off x="3991897" y="482232"/>
            <a:ext cx="609600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lvl="0">
              <a:lnSpc>
                <a:spcPct val="150000"/>
              </a:lnSpc>
              <a:buSzPts val="2520"/>
              <a:tabLst>
                <a:tab pos="444500" algn="l"/>
              </a:tabLst>
              <a:defRPr/>
            </a:pPr>
            <a:r>
              <a:rPr lang="en-US" sz="3600" b="1" dirty="0"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14F42-16E9-D461-8BCF-CEB12624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A2FBC8-9B16-CC31-C03D-871EA5246FEA}"/>
              </a:ext>
            </a:extLst>
          </p:cNvPr>
          <p:cNvSpPr txBox="1"/>
          <p:nvPr/>
        </p:nvSpPr>
        <p:spPr>
          <a:xfrm>
            <a:off x="1159933" y="1430867"/>
            <a:ext cx="79840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generate large volumes of sales data every day.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historical sales data helps identify trends, seasonality and demand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forecasting helps businesses predict future demand.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forecasts can support: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planning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of overstocking and understocking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business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time-series forecasting techniques such as ARIMA and Prophet.</a:t>
            </a:r>
          </a:p>
        </p:txBody>
      </p:sp>
    </p:spTree>
    <p:extLst>
      <p:ext uri="{BB962C8B-B14F-4D97-AF65-F5344CB8AC3E}">
        <p14:creationId xmlns:p14="http://schemas.microsoft.com/office/powerpoint/2010/main" val="46141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CFA3A9-4F52-0F8F-BFDC-459E40767B98}"/>
              </a:ext>
            </a:extLst>
          </p:cNvPr>
          <p:cNvSpPr txBox="1"/>
          <p:nvPr/>
        </p:nvSpPr>
        <p:spPr>
          <a:xfrm>
            <a:off x="1439333" y="1244600"/>
            <a:ext cx="77046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often have large amounts of historical sales data but may not have an efficient way to use it for predicting future demand.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patterns manually.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may fluctuate over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demand estimation can lead to overstocking or understocking.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need better inventory and resource planning.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and understandable forecasting dashboard can help users interpret predictions.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84150-46CD-7B9D-BABA-7B61A5C0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A0724C-1F80-D6C8-8189-2F3326FD26A7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40742-CB34-9D1A-5F76-7C95BC11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810B1-EBC2-7AAB-3667-DEE8B5EADA00}"/>
              </a:ext>
            </a:extLst>
          </p:cNvPr>
          <p:cNvSpPr txBox="1"/>
          <p:nvPr/>
        </p:nvSpPr>
        <p:spPr>
          <a:xfrm>
            <a:off x="1871133" y="1354667"/>
            <a:ext cx="7272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historical sales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inconsistencies and irrelevant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seasonality and demand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ARIMA and Prophet for time-series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compare forecasting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visualizations to compare actual vs predicted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that support inventory planning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7378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96912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Ramos et al. (2015)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Performance of State Space and ARIMA Models for Consumer Retail Sales Forecasting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ARIMA &amp; State Space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ARIMA and State Space models showed similar overall forecasting performance for retail sales in both one-step and multi-step forecasts.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Performance can vary depending on the sales pattern and forecasting horizon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Sousa et al. (2024)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Long-term Demand Forecasting Applied to a Retail Company Using Prophet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Prophet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Prophet achieved satisfactory forecasting performance, with WAPE of 4% and 5% for two retail sales channels at week 30.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Tested on specific retail sales channels; applicability to other datasets needs further evaluation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Ma &amp; Fildes (2021)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Retail Sales Forecasting with Meta-learning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Meta-learning &amp; Deep Learning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The proposed meta-learning approach outperformed several benchmark forecasting methods for retail sales forecasting.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Lower interpretability of learned features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37B22C-9602-B64A-69CB-7B39CFF1B7AD}"/>
              </a:ext>
            </a:extLst>
          </p:cNvPr>
          <p:cNvSpPr txBox="1"/>
          <p:nvPr/>
        </p:nvSpPr>
        <p:spPr>
          <a:xfrm>
            <a:off x="1845733" y="1312333"/>
            <a:ext cx="729826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forecasting approaches can predict future demand, but there is a need for a system that combines the complete workflow into one understandable platform.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often requires significant preprocessing before forecasting.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forecasting models may perform differently depending on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models can help identify the more suitable approach.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results need to be presented in an understandable manner.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focus mainly on prediction rather than combining analysis + forecasting +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ABD11D-5647-A625-534C-A6457A7220F7}"/>
              </a:ext>
            </a:extLst>
          </p:cNvPr>
          <p:cNvSpPr txBox="1"/>
          <p:nvPr/>
        </p:nvSpPr>
        <p:spPr>
          <a:xfrm>
            <a:off x="2006600" y="1447801"/>
            <a:ext cx="7137400" cy="382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combines the complete forecasting pipeline into a single system.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of historical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demand trends and fluctuations.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actual and predicted sales.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presentation of forecasting results. 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provide an integrated analytical framework that combines: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→ Analysis → Forecasting → Model Comparison →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59EFE9-ED44-D995-D2EE-3C1F73475789}"/>
              </a:ext>
            </a:extLst>
          </p:cNvPr>
          <p:cNvSpPr txBox="1"/>
          <p:nvPr/>
        </p:nvSpPr>
        <p:spPr>
          <a:xfrm>
            <a:off x="1549400" y="1422400"/>
            <a:ext cx="6680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sales dataset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&amp; 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1DD55-5785-20E6-25CC-28E5E6E5336C}"/>
              </a:ext>
            </a:extLst>
          </p:cNvPr>
          <p:cNvSpPr txBox="1"/>
          <p:nvPr/>
        </p:nvSpPr>
        <p:spPr>
          <a:xfrm>
            <a:off x="5850466" y="1422400"/>
            <a:ext cx="32935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Prophet 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634</Words>
  <Application>Microsoft Office PowerPoint</Application>
  <PresentationFormat>Widescreen</PresentationFormat>
  <Paragraphs>129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Vyshu Reddy</cp:lastModifiedBy>
  <cp:revision>35</cp:revision>
  <dcterms:created xsi:type="dcterms:W3CDTF">2026-08-08T06:33:56Z</dcterms:created>
  <dcterms:modified xsi:type="dcterms:W3CDTF">2026-09-11T04:15:04Z</dcterms:modified>
</cp:coreProperties>
</file>